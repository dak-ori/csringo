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LLM 기반 컴퓨터과학 학습 질문 자동 생성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검증 및 재생성 파이프라인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An LLM-based Automatic Question Generation System for Computer Science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1090879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강지훈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</a:rPr>
              <a:t>지도교수: 박수헌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2026년 6월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졸업논문 발표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2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4572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457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52728"/>
            <a:ext cx="10314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연구 배경 및 동기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4572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57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29968"/>
            <a:ext cx="10314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시스템 설계 (CSQuest 개요)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4572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457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07208"/>
            <a:ext cx="10314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핵심 기여: 검증·재생성 파이프라인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4572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457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584448"/>
            <a:ext cx="10314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실험 및 평가 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51960"/>
            <a:ext cx="4572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457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61688"/>
            <a:ext cx="10314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결론 및 향후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연구 배경 및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I. 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기존 CS 학습의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solidFill>
                  <a:srgbClr val="000000"/>
                </a:solidFill>
              </a:rPr>
              <a:t>▪ 기존 교재·플랫폼의 문제는 정적이며 맞춤형 제공 어려움</a:t>
            </a:r>
          </a:p>
          <a:p>
            <a:pPr/>
            <a:r>
              <a:rPr sz="1500" b="1">
                <a:solidFill>
                  <a:srgbClr val="000000"/>
                </a:solidFill>
              </a:rPr>
              <a:t>▪ 단순 프롬프팅으로 생성된 문제: 정답 오류·보기 중복·난이도 불일치</a:t>
            </a:r>
          </a:p>
          <a:p>
            <a:pPr/>
            <a:r>
              <a:rPr sz="1500" b="1">
                <a:solidFill>
                  <a:srgbClr val="000000"/>
                </a:solidFill>
              </a:rPr>
              <a:t>▪ 한국어 CS 학습 환경에서 양질의 자료 부족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LLM 활용 필요성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17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solidFill>
                  <a:srgbClr val="000000"/>
                </a:solidFill>
              </a:rPr>
              <a:t>▪ GPT·Claude 등 LLM: 개념과 난이도에 맞는 문제 즉시 생성 가능</a:t>
            </a:r>
          </a:p>
          <a:p>
            <a:pPr/>
            <a:r>
              <a:rPr sz="1500" b="1">
                <a:solidFill>
                  <a:srgbClr val="000000"/>
                </a:solidFill>
              </a:rPr>
              <a:t>▪ 그러나 생성 품질 자동 검증 파이프라인이 부재</a:t>
            </a:r>
          </a:p>
          <a:p>
            <a:pPr/>
            <a:r>
              <a:rPr sz="1500" b="1">
                <a:solidFill>
                  <a:srgbClr val="000000"/>
                </a:solidFill>
              </a:rPr>
              <a:t>▪ 개인 맞춤형 교육 → 집단 강의 대비 학습 성취도 2σ 향상 (Bloom, 1984)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051560"/>
            <a:ext cx="1905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10908792" cy="118872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55848"/>
            <a:ext cx="106344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본 연구: LLM 기반 한국어 CS 학습 앱 CSQuest 설계·구현
① 검증·재생성 파이프라인 (LLM-as-a-Judge + Self-Refine)
② AI 기반 개인화 복습 큐 + 게이미피케이션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기존 연구와의 차별점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I. 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92024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143000"/>
            <a:ext cx="4114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기존 연구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143000"/>
            <a:ext cx="45720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280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본 연구 (CSQuest)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192024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적용 맥락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783080"/>
            <a:ext cx="411480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874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오프라인 배치 평가 또는
제약 없는 실험 환경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783080"/>
            <a:ext cx="457200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74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실시간 웹 서비스 (Next.js)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23160"/>
            <a:ext cx="1920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14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언어·도메인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42316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514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영어 중심 일반 도메인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423160"/>
            <a:ext cx="4572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514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한국어 CS 교육 특화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063240"/>
            <a:ext cx="192024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154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재생성 제한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063240"/>
            <a:ext cx="411480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154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제한 없음 (비용/지연 문제)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063240"/>
            <a:ext cx="457200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154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최대 3회 (UX 응답 지연 최소화)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703320"/>
            <a:ext cx="1920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검증 모델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70332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3794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GPT-4 등 고비용 모델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703320"/>
            <a:ext cx="4572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794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Gemini Flash (속도·비용 최적화)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43400"/>
            <a:ext cx="192024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34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개인화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43400"/>
            <a:ext cx="411480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없음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4343400"/>
            <a:ext cx="457200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오답 기반 복습 큐 + XP 게이미피케이션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시스템 개요 — CSQuest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II. 시스템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08792" cy="9601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프론트엔드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Next.js 14 (App Router)  ·  React  ·  Tailwind CSS  ·  shadcn/ui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9601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백엔드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Supabase (PostgreSQL · Row Level Security · OAuth 인증)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08792" cy="9601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AI 계층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13048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Google Gemini API (gemini-flash-3.5)  —  문제 생성·검증·복습 큐 우선순위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모든 데이터: Supabase PostgreSQL  ·  인증: Supabase OAuth  ·  AI 응답 max_tokens=512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콘텐츠 구조 및 문제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II. 시스템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구현된 콘텐츠 규모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8288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과목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17320"/>
            <a:ext cx="9144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49047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챕터 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9144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9047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레슨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9144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9047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문제 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856232"/>
            <a:ext cx="18288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29384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  자료구조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1856232"/>
            <a:ext cx="9144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92938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856232"/>
            <a:ext cx="9144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92938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856232"/>
            <a:ext cx="9144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92938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295144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368296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  알고리즘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295144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236829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295144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236829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295144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236829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734056"/>
            <a:ext cx="18288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80720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  운영체제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2734056"/>
            <a:ext cx="9144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28072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2734056"/>
            <a:ext cx="9144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28072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2734056"/>
            <a:ext cx="9144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28072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172968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246120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  네트워크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17296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68880" y="324612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17296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324612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317296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324612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611880"/>
            <a:ext cx="1828800" cy="438912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685032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  합계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3611880"/>
            <a:ext cx="914400" cy="438912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8880" y="368503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3611880"/>
            <a:ext cx="914400" cy="438912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368503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3611880"/>
            <a:ext cx="914400" cy="438912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0" y="368503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</a:rPr>
              <a:t>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1051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문제 유형 3가지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1417320"/>
            <a:ext cx="5394960" cy="100584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14904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빈칸 채우기 (fill_blank)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1828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개념어를 직접 입력
예: '스택은 ___ 구조이다'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39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</a:rPr>
              <a:t>41% (11문항)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2514600"/>
            <a:ext cx="5394960" cy="100584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25877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순서 배열 (drag_order)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2926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항목을 올바른 순서로 정렬
예: 프로세스 생성 단계 나열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21239" y="2788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</a:rPr>
              <a:t>33% (9문항)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3611880"/>
            <a:ext cx="5394960" cy="100584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0760" y="36850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논리 흐름 (logic_flow)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80760" y="4023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주어진 흐름에서 빈 단계의 보기 선택
예: TCP 3-way handshake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39" y="3886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</a:rPr>
              <a:t>26% (7문항)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핵심 기여 ①  검증·재생성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III. 핵심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3716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사용자
입력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325880"/>
            <a:ext cx="13716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3258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① 생성
(Gemini)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325880"/>
            <a:ext cx="137160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3258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② 검증
(LLM-Judge)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325880"/>
            <a:ext cx="137160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3258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③ 재생성
(Self-Refine)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25880"/>
            <a:ext cx="13716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258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④ 저장
(DB)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6459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6459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6459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280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통과✓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86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실패↓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286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최대 3회 재시도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1645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06040"/>
            <a:ext cx="109087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000000"/>
                </a:solidFill>
              </a:rPr>
              <a:t>▪ 단순 프롬프팅 대비 생성 품질 향상을 위해 Self-Refine 원칙 적용</a:t>
            </a:r>
          </a:p>
          <a:p>
            <a:pPr/>
            <a:r>
              <a:rPr sz="1400" b="1">
                <a:solidFill>
                  <a:srgbClr val="000000"/>
                </a:solidFill>
              </a:rPr>
              <a:t>▪ LLM-as-a-Judge: 동일 모델(Gemini)이 4가지 기준으로 자동 평가</a:t>
            </a:r>
          </a:p>
          <a:p>
            <a:pPr/>
            <a:r>
              <a:rPr sz="1400" b="1">
                <a:solidFill>
                  <a:srgbClr val="000000"/>
                </a:solidFill>
              </a:rPr>
              <a:t>▪ 실패 사유(reasons)를 프롬프트에 반영 → 후속 생성 품질 개선</a:t>
            </a:r>
          </a:p>
          <a:p>
            <a:pPr/>
            <a:r>
              <a:rPr sz="1400" b="1">
                <a:solidFill>
                  <a:srgbClr val="000000"/>
                </a:solidFill>
              </a:rPr>
              <a:t>▪ 3회 모두 실패 시 HTTP 422 반환 (클라이언트에 실패 사유 표시)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LLM-as-a-Judge 검증 모듈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III. 핵심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</a:rPr>
              <a:t>생성된 문제를 동일 모델(Gemini)에게 전달하여 4가지 기준을 자동 평가합니다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62956" cy="9601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50886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① 정답 정확성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50886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✓ correct_answer가 문제에 대해 올바른가?
→ 오답 생성이 가장 빈번한 실패 원인 (약 18%)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1463040"/>
            <a:ext cx="5362956" cy="9601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076" y="1536192"/>
            <a:ext cx="50886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② 명확성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874520"/>
            <a:ext cx="50886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✓ 문제 지문이 모호하지 않은가?
→ 표현 모호성으로 인한 실패 약 12%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32888"/>
            <a:ext cx="5362956" cy="9601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50886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③ 난이도 적합성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44368"/>
            <a:ext cx="50886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✓ 사용자가 선택한 난이도 수준에 맞는가?
→ 초급/중급/고급 수준 일치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5916" y="2532888"/>
            <a:ext cx="5362956" cy="9601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6" y="2606040"/>
            <a:ext cx="50886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④ 보기 중복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2944368"/>
            <a:ext cx="50886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✓ options/items에 중복된 항목이 없는가?
→ drag_order·logic_flow 유형에서 중요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10908792" cy="54864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10634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05050"/>
                </a:solidFill>
              </a:rPr>
              <a:t>검증 모듈 반환 형식:  {"passed": true/false,  "reasons": ["이유1", "이유2", ...]}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Self-Refine 재생성 모듈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III. 핵심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</a:rPr>
              <a:t>검증 실패 시 실패 사유를 프롬프트에 명시하여 재생성 (최대 3회)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프롬프트 엔지니어링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2920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역할 부여 (Persona)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"한국어 컴퓨터과학 교육 문제 출제자" 페르소나 명시
→ Hallucination 억제 + CS 도메인 특화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02920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07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구조화 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문항 유형별 JSON 스키마 명시
→ 파싱 가능한 일관된 출력 보장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502920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Self-Refine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재생성 시 이전 검증 실패 사유 포함
→ 후속 생성 품질 향상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재생성 루프 동작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32004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745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1차 생성 → 검증 실패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359152"/>
            <a:ext cx="32004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35915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404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실패 사유 reasons 추출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889504"/>
            <a:ext cx="32004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889504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93522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reasons를 프롬프트에 포함 → 2차 생성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419856"/>
            <a:ext cx="32004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419856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46557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검증 통과 시 저장 / 실패 시 반복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950208"/>
            <a:ext cx="320040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95020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9959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3회 모두 실패 → HTTP 422 반환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5050"/>
                </a:solidFill>
              </a:rPr>
              <a:t>※ CoT(Chain-of-Thought) 미사용 — 응답 속도 최적화 (max_tokens=512)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실험 및 평가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IV. 평가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검증·재생성 파이프라인 시도 횟수별 통과율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645920" cy="594360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시도 횟수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463040"/>
            <a:ext cx="1645920" cy="594360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57276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검증 통과율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463040"/>
            <a:ext cx="1645920" cy="594360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57276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응답 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57400"/>
            <a:ext cx="1645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6712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1회 시도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057400"/>
            <a:ext cx="1645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16712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</a:rPr>
              <a:t>약 65%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057400"/>
            <a:ext cx="1645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16712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약 3~4초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5176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6148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2회 시도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65176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76148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</a:rPr>
              <a:t>약 88%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65176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6148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약 6~8초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246120"/>
            <a:ext cx="1645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5584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3회 시도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246120"/>
            <a:ext cx="1645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35584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</a:rPr>
              <a:t>약 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246120"/>
            <a:ext cx="1645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3355848"/>
            <a:ext cx="16459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약 9~12초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</a:rPr>
              <a:t>내부 테스트 240회 (각 주제·난이도 조합별 20회)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검증 실패 주요 원인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43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000000"/>
                </a:solidFill>
              </a:rPr>
              <a:t>▪ 난이도 적합성 불일치: 약 18%</a:t>
            </a:r>
          </a:p>
          <a:p>
            <a:pPr/>
            <a:r>
              <a:rPr sz="1300" b="1">
                <a:solidFill>
                  <a:srgbClr val="000000"/>
                </a:solidFill>
              </a:rPr>
              <a:t>▪ 정답 표현 모호성: 약 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AI 복습 큐 생성 성능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463040"/>
            <a:ext cx="5029200" cy="96012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1536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분석 응답 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오답 20개 입력 기준
평균 1.2~1.8초 (max_tokens=256)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514600"/>
            <a:ext cx="5029200" cy="96012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587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API 오류 대응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926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폴백 로직: 오답 횟수 내림차순
상위 5개 자동 선정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566160"/>
            <a:ext cx="5029200" cy="96012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639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1회 시도 파이프라인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977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생성+검증 평균 3~4초
(max_tokens=512 조건)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5050"/>
                </a:solidFill>
              </a:rPr>
              <a:t>※ 외부 사용자 대상 공식 실험은 향후 과제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핵심 기여 ②  AI 복습 큐 + 게이미피케이션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II. 시스템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AI 기반 개인화 복습 큐 생성 (4단계)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11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72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wrong_count ≥ 2인 문제 최대 20개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67712"/>
            <a:ext cx="411480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411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오답 목록 → Gemini에 전달 → 복습 우선순위(1~5) JSON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72384"/>
            <a:ext cx="411480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72384"/>
            <a:ext cx="411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폴백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821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API 오류 시 오답 횟수 내림차순 상위 5개 자동 선정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77056"/>
            <a:ext cx="411480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77056"/>
            <a:ext cx="411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8678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review_queue에 upsert (중복 방지 — 기존 항목은 priority만 갱신)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게이미피케이션 요소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5029200" cy="749808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XP (경험치)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10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정답·레슨 완료 시 지급
레벨업 임계치: 0→100→300→600→1000 XP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304288"/>
            <a:ext cx="5029200" cy="749808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359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하트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51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오답 시 하트 1개 소모
5개 / 시간 경과 시 자동 회복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145536"/>
            <a:ext cx="5029200" cy="749808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00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스트릭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93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연속 학습일 카운트
동기 유지 보조 메커니즘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986784"/>
            <a:ext cx="5029200" cy="749808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416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리그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342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실버·골드 등 리그 분류
리더보드로 경쟁 요소 도입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시스템 데모 — CSQuest 구현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IV. 평가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12 / 13</a:t>
            </a:r>
          </a:p>
        </p:txBody>
      </p:sp>
      <p:pic>
        <p:nvPicPr>
          <p:cNvPr id="5" name="Picture 4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1097280"/>
            <a:ext cx="34747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대시보드
(XP·하트·스트릭·오늘의 레슨)</a:t>
            </a:r>
          </a:p>
        </p:txBody>
      </p:sp>
      <p:pic>
        <p:nvPicPr>
          <p:cNvPr id="7" name="Picture 6" descr="ss_gene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116" y="1097280"/>
            <a:ext cx="34747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57116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AI 문제 생성
(주제·난이도·문항 유형 선택)</a:t>
            </a:r>
          </a:p>
        </p:txBody>
      </p:sp>
      <p:pic>
        <p:nvPicPr>
          <p:cNvPr id="9" name="Picture 8" descr="screenshot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436" y="1097280"/>
            <a:ext cx="34747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60436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프로필·리더보드
(레벨·XP·리그 순위)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결론 및 향후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</a:rPr>
              <a:t>V.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연구 기여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000000"/>
                </a:solidFill>
              </a:rPr>
              <a:t>▪ 검증·재생성 파이프라인</a:t>
            </a:r>
          </a:p>
          <a:p>
            <a:pPr lvl="1"/>
            <a:r>
              <a:rPr sz="1250" b="0">
                <a:solidFill>
                  <a:srgbClr val="505050"/>
                </a:solidFill>
              </a:rPr>
              <a:t>    - LLM-as-a-Judge + Self-Refine 결합</a:t>
            </a:r>
          </a:p>
          <a:p>
            <a:pPr lvl="1"/>
            <a:r>
              <a:rPr sz="1250" b="0">
                <a:solidFill>
                  <a:srgbClr val="505050"/>
                </a:solidFill>
              </a:rPr>
              <a:t>    - 단순 프롬프팅 대비 통과율 65% → 95% 향상</a:t>
            </a:r>
          </a:p>
          <a:p>
            <a:pPr lvl="1"/>
            <a:r>
              <a:rPr sz="1250" b="0">
                <a:solidFill>
                  <a:srgbClr val="505050"/>
                </a:solidFill>
              </a:rPr>
              <a:t>    - 최대 3회 제한으로 실시간 UX 보장</a:t>
            </a:r>
          </a:p>
          <a:p>
            <a:pPr/>
            <a:r>
              <a:rPr sz="1400" b="1">
                <a:solidFill>
                  <a:srgbClr val="000000"/>
                </a:solidFill>
              </a:rPr>
              <a:t>▪ AI 기반 개인화 복습 큐</a:t>
            </a:r>
          </a:p>
          <a:p>
            <a:pPr lvl="1"/>
            <a:r>
              <a:rPr sz="1250" b="0">
                <a:solidFill>
                  <a:srgbClr val="505050"/>
                </a:solidFill>
              </a:rPr>
              <a:t>    - 오답 기반 자동 복습 우선순위 생성</a:t>
            </a:r>
          </a:p>
          <a:p>
            <a:pPr lvl="1"/>
            <a:r>
              <a:rPr sz="1250" b="0">
                <a:solidFill>
                  <a:srgbClr val="505050"/>
                </a:solidFill>
              </a:rPr>
              <a:t>    - XP·레벨·하트·스트릭·리그 게이미피케이션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향후 연구 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000000"/>
                </a:solidFill>
              </a:rPr>
              <a:t>▪ A/B 비교 실험 (검증 루프 적용 전후 정답 확도)</a:t>
            </a:r>
          </a:p>
          <a:p>
            <a:pPr/>
            <a:r>
              <a:rPr sz="1400" b="1">
                <a:solidFill>
                  <a:srgbClr val="000000"/>
                </a:solidFill>
              </a:rPr>
              <a:t>▪ 사용자 만족도 정량 평가</a:t>
            </a:r>
          </a:p>
          <a:p>
            <a:pPr/>
            <a:r>
              <a:rPr sz="1400" b="1">
                <a:solidFill>
                  <a:srgbClr val="000000"/>
                </a:solidFill>
              </a:rPr>
              <a:t>▪ RAG 기반 사실성 강화</a:t>
            </a:r>
          </a:p>
          <a:p>
            <a:pPr/>
            <a:r>
              <a:rPr sz="1400" b="1">
                <a:solidFill>
                  <a:srgbClr val="000000"/>
                </a:solidFill>
              </a:rPr>
              <a:t>▪ 코드 작성형 문항 추가</a:t>
            </a:r>
          </a:p>
          <a:p>
            <a:pPr/>
            <a:r>
              <a:rPr sz="1400" b="1">
                <a:solidFill>
                  <a:srgbClr val="000000"/>
                </a:solidFill>
              </a:rPr>
              <a:t>▪ 문제 콘텐츠 확대 (데이터베이스·자료구조 심화 등)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69080"/>
            <a:ext cx="10908792" cy="6858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1063447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05050"/>
                </a:solidFill>
              </a:rPr>
              <a:t>한계: ① 콘텐츠 27문항으로 CS 커리큘럼 전체 커버 미흡  ② 검증 평가는 내부 테스트(240회)에 의존  ③ 최대 9~12초 응답 지연 → 향후 Pre-generation 아키텍처 도입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